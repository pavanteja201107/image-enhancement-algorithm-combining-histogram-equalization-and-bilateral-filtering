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embeddedFontLst>
    <p:embeddedFont>
      <p:font typeface="Lato" panose="020F0502020204030203" pitchFamily="34" charset="0"/>
      <p:regular r:id="rId20"/>
      <p:bold r:id="rId21"/>
      <p:italic r:id="rId22"/>
    </p:embeddedFont>
    <p:embeddedFont>
      <p:font typeface="Lato Bold" panose="020F0502020204030203" pitchFamily="34" charset="0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79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6757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Age and Gender Detection : Blurring-Based Approach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397335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550"/>
              </a:lnSpc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68201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5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Group Number : 41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39067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5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231IT030, 231IT046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609933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5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Dept of IT, NITK</a:t>
            </a: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E01727-B661-5555-E105-687F941B8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49" y="7648494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8957" y="517446"/>
            <a:ext cx="6552486" cy="809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           Table of Contents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57225" y="1609011"/>
            <a:ext cx="3756184" cy="46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1. ​Introduction​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57225" y="2360176"/>
            <a:ext cx="3756184" cy="46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2.  Literature Survey​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57225" y="3111341"/>
            <a:ext cx="6289477" cy="46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3.  Problem Statement and Objectives​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657225" y="3862507"/>
            <a:ext cx="3756184" cy="46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4. ​ Methodology​</a:t>
            </a:r>
            <a:endParaRPr lang="en-US" sz="2950" dirty="0"/>
          </a:p>
        </p:txBody>
      </p:sp>
      <p:sp>
        <p:nvSpPr>
          <p:cNvPr id="7" name="Text 5"/>
          <p:cNvSpPr/>
          <p:nvPr/>
        </p:nvSpPr>
        <p:spPr>
          <a:xfrm>
            <a:off x="657225" y="4613672"/>
            <a:ext cx="3756184" cy="46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5. ​ Experimental Setup​</a:t>
            </a:r>
            <a:endParaRPr lang="en-US" sz="2950" dirty="0"/>
          </a:p>
        </p:txBody>
      </p:sp>
      <p:sp>
        <p:nvSpPr>
          <p:cNvPr id="8" name="Text 6"/>
          <p:cNvSpPr/>
          <p:nvPr/>
        </p:nvSpPr>
        <p:spPr>
          <a:xfrm>
            <a:off x="657225" y="5364837"/>
            <a:ext cx="3860602" cy="46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6.  Results and Analysis​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57225" y="6116003"/>
            <a:ext cx="5079563" cy="46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7. ​Conclusion​ and Future work</a:t>
            </a:r>
            <a:endParaRPr lang="en-US" sz="2950" dirty="0"/>
          </a:p>
        </p:txBody>
      </p:sp>
      <p:sp>
        <p:nvSpPr>
          <p:cNvPr id="10" name="Text 8"/>
          <p:cNvSpPr/>
          <p:nvPr/>
        </p:nvSpPr>
        <p:spPr>
          <a:xfrm>
            <a:off x="657225" y="7054929"/>
            <a:ext cx="3756184" cy="46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8. ​References​</a:t>
            </a:r>
            <a:endParaRPr lang="en-US" sz="2950" dirty="0"/>
          </a:p>
        </p:txBody>
      </p:sp>
      <p:sp>
        <p:nvSpPr>
          <p:cNvPr id="11" name="Text 9"/>
          <p:cNvSpPr/>
          <p:nvPr/>
        </p:nvSpPr>
        <p:spPr>
          <a:xfrm>
            <a:off x="7551896" y="7036118"/>
            <a:ext cx="6428899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3921D5-0957-18FC-CB00-9BDA74141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49" y="7603889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19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0437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Role of Images and Videos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3717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Crucial for security, personalized ads, and social media insights.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6998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Enhances user experience, aids authorities.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0278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Adience Benchmark Dataset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3559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Kaggle.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6839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Real-world, labeled images (Age &amp; Gender).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801201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 groups: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(0-2), (4-6), (8-12), (15-20), (21-24), (25-32), (38-43), (48-53), (60-100).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33400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Challenges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Pose, lighting, background variations.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7C23F3-B79A-6518-DC63-8F7B47941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49" y="7648494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641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Applications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232922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Retail: 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Personalized promotions.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86202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Social media: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Audience insights.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9482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Demographic identification.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92763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Process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6043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Facial feature analysis using CNNs.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99324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Preprocessing Techniques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52604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Gaussian Blur: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Noise reduction.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05885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Bilateral Filtering: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Preserves edges, enhances accuracy.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453DDB-EEF7-25BA-9229-6CED4D46B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49" y="7559905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640" y="582692"/>
            <a:ext cx="5297805" cy="662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Literature Survey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1640" y="1562695"/>
            <a:ext cx="11371778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Studies on Blurring Techniques for Image Enhancement Using Deep Learning</a:t>
            </a:r>
            <a:endParaRPr lang="en-US" sz="2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40" y="2277785"/>
            <a:ext cx="13512578" cy="5951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B87D14-1A51-FC38-934C-F30BC9155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1916" y="7697972"/>
            <a:ext cx="380730" cy="4201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8219"/>
            <a:ext cx="88207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 Statement and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3715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 Statement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02612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exploration of combined effects of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Gaussian Blur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Bilateral Filtering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on age and gender detection accuracy.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8892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Research aims to assess their effectiveness in real-world conditions like noise and lighting variations.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8259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Objectives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5348049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Objective 1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Study the impact of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Gaussian Blur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on age and gender detection, focusing on noise reduction and prediction performance.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334363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Objective 2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Analyze the effect of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Bilateral Filtering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on edge preservation and accuracy, with emphasis on critical facial features.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C1465F-ED39-CE1A-EE6A-6DF465A21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49" y="7648494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682" y="543282"/>
            <a:ext cx="4933474" cy="616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Methodology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90682" y="1456015"/>
            <a:ext cx="3946803" cy="49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Objective - 1: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0682" y="2245281"/>
            <a:ext cx="781157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  Steps in Age and Gender Detection Using Gaussian Blurring Technique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396" y="2849642"/>
            <a:ext cx="3717608" cy="48365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B033D7-D4DD-C91A-67F0-9FDBD2485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5358" y="7648494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235" y="579239"/>
            <a:ext cx="4212788" cy="526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Objective - 2 : 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7235" y="1316355"/>
            <a:ext cx="8124944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Step-by-Step Guide to Age and Gender Detection with Image Blurring</a:t>
            </a:r>
            <a:endParaRPr lang="en-US" sz="2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" y="1961198"/>
            <a:ext cx="13155930" cy="61785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4DBFA7-AFE0-02FA-EBA7-7C7C42F54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3165" y="7727795"/>
            <a:ext cx="737235" cy="4119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088" y="550069"/>
            <a:ext cx="5000863" cy="62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Experimental Setup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00088" y="1475184"/>
            <a:ext cx="4000738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900"/>
              </a:lnSpc>
              <a:buNone/>
            </a:pPr>
            <a:r>
              <a:rPr lang="en-US" sz="3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Objective 1: 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00088" y="2275284"/>
            <a:ext cx="132302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Packages Used: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00088" y="2900363"/>
            <a:ext cx="132302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OpenCV: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Face detection, Gaussian &amp; Bilateral Filters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0088" y="3370421"/>
            <a:ext cx="132302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TensorFlow/Keras: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Pre-trained models for classification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0088" y="3840480"/>
            <a:ext cx="132302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NumPy, Matplotlib: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Image manipulation &amp; visualization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0088" y="4465558"/>
            <a:ext cx="132302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Configuration: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00088" y="5090636"/>
            <a:ext cx="132302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Pre-trained CNN (e.g., VGG-16)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00088" y="5560695"/>
            <a:ext cx="132302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Image Size: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224x224 px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0088" y="6185773"/>
            <a:ext cx="132302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Preprocessing: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00088" y="6810851"/>
            <a:ext cx="132302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Optional: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Grayscale conversion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0088" y="7280910"/>
            <a:ext cx="132302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Blurring Techniques: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Gaussian Blur &amp; Bilateral Filtering with varied parameters</a:t>
            </a:r>
            <a:endParaRPr lang="en-US" sz="15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5AFFA6-1174-81E9-6718-49DADA929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49" y="7629258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6887"/>
            <a:ext cx="80602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Objective 2: Blurring Techniques Impact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2749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Packages Used: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3615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Data organization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6895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Seaborn: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Accuracy trends visualization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0176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Scikit-learn: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Metrics calculation (Accuracy, Precision, Recall)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31042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Blurring Parameters: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01908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Gaussian Blur: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Kernels (3x3, 5x5, 7x7), Sigma (1, 2, 3)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55188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Bilateral Filter: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Diameters (9, 15, 25), Sigma (75)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26054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Metrics: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96920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Accuracy, Precision, Recall: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Assessed across different blur levels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506D40-E747-B74B-40B0-1A18747D5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49" y="7607665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3" y="602575"/>
            <a:ext cx="5468064" cy="68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Results and Analysis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5453" y="1614130"/>
            <a:ext cx="4374475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Objective 1 - Results: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5453" y="2488883"/>
            <a:ext cx="13099494" cy="43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1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Initial Model Performance (No Blurring):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65453" y="3172182"/>
            <a:ext cx="13099494" cy="43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Accuracy:</a:t>
            </a: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60%–80% (varied with image quality: noise, background complexity).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5453" y="3685937"/>
            <a:ext cx="13099494" cy="43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Challenges:</a:t>
            </a: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Variability in predictions under low lighting and complex backgrounds.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5453" y="4199692"/>
            <a:ext cx="13099494" cy="43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Pre-trained CNN</a:t>
            </a: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tested on unprocessed facial images.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5453" y="4882991"/>
            <a:ext cx="13099494" cy="43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1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 Applying Gaussian Blurring: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65453" y="5566291"/>
            <a:ext cx="13099494" cy="43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Accuracy Increased:</a:t>
            </a: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70%–90% for most images.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5453" y="6080046"/>
            <a:ext cx="13099494" cy="43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Effective in Noisy Environments:</a:t>
            </a: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Little improvement for already clear images.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5453" y="6593800"/>
            <a:ext cx="13099494" cy="43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Improved Consistency:</a:t>
            </a: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Reduced high-frequency noise.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5453" y="7277100"/>
            <a:ext cx="13099494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1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4D1E8D-B9BB-DEA3-A276-94C801F81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49" y="7648494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259" y="433149"/>
            <a:ext cx="3398996" cy="39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OUTPUT (Objective - 1):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51259" y="1161574"/>
            <a:ext cx="2788206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Before Blurring(Gaussian):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029" y="1634133"/>
            <a:ext cx="3404235" cy="29787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14987" y="1161574"/>
            <a:ext cx="2678430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After Blurring(Gaussian) :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1152" y="1634133"/>
            <a:ext cx="3404338" cy="29787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1259" y="5026223"/>
            <a:ext cx="5785961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Comparison of Results Before and After Gaussian Blur :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982" y="5557838"/>
            <a:ext cx="5014436" cy="181236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1259" y="7547372"/>
            <a:ext cx="1352788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D3B885-2D29-BE04-9DE9-43A657803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3449" y="7648494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76" y="607457"/>
            <a:ext cx="2913697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Before Blurring(Gaussian) :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079" y="1093351"/>
            <a:ext cx="3474363" cy="3476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42572" y="607457"/>
            <a:ext cx="2754035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After Blurring(Gaussian) :</a:t>
            </a:r>
            <a:endParaRPr lang="en-US" sz="1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9567" y="1093351"/>
            <a:ext cx="3474363" cy="34769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76" y="4995505"/>
            <a:ext cx="5949196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Comparison of Results Before and After Gaussian Blur :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912" y="5542240"/>
            <a:ext cx="4986576" cy="17361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6976" y="7460575"/>
            <a:ext cx="13496449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endParaRPr lang="en-US" sz="15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C0E919-E3E8-3A9D-1764-E10B5F4357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4207" y="7648494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189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Objective 2 - Results: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85687"/>
            <a:ext cx="507646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Initial Accuracy (Before Blurring):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45114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Gender Predictions: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More accurate, less affected by noise.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98394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 Predictions: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Lower accuracy for noisy or low-contrast images.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9260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Accuracy Improvement with Blurring: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40126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Gaussian &amp; Bilateral Filters: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Improved accuracy by 10-15%.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93406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Bilateral Filtering: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Preserved facial structure, boosting performance.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64272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Diminishing Returns with Excessive Blurring: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635138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Over-smoothing: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Lost key facial details, reducing accuracy.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88419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 Predictions: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More adversely affected than gender.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3D2234-EC1A-29ED-9C66-D552D0F68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49" y="7648494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620" y="604718"/>
            <a:ext cx="4745712" cy="549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OUTPUT (Objective - 2):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69620" y="1621512"/>
            <a:ext cx="3298508" cy="41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Before Blurring :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2280999"/>
            <a:ext cx="4005501" cy="40085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19236" y="1621512"/>
            <a:ext cx="3298508" cy="41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After Blurring :</a:t>
            </a:r>
            <a:endParaRPr lang="en-US" sz="2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236" y="2280999"/>
            <a:ext cx="4006929" cy="401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19236" y="6538317"/>
            <a:ext cx="400692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723835" y="1621512"/>
            <a:ext cx="3455550" cy="41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Comparison of results: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9870281" y="2253496"/>
            <a:ext cx="4005501" cy="439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450"/>
              </a:lnSpc>
              <a:buNone/>
            </a:pPr>
            <a:endParaRPr lang="en-US" sz="2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3835" y="2253497"/>
            <a:ext cx="4151947" cy="40360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70281" y="5471398"/>
            <a:ext cx="4005501" cy="439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450"/>
              </a:lnSpc>
              <a:buNone/>
            </a:pP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769620" y="7335322"/>
            <a:ext cx="13091160" cy="439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450"/>
              </a:lnSpc>
              <a:buNone/>
            </a:pPr>
            <a:endParaRPr lang="en-US" sz="2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60185BF-B567-548A-34AB-FB642EEF8D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0909" y="7555230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873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0252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Built a system for age and gender prediction from facial images.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3532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Gaussian Blur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reduces noise but can blur key features.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6813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Bilateral Filter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preserves edges and reduces noise effectively.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70093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Evaluated using accuracy and precision metrics.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9460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Future Work</a:t>
            </a:r>
            <a:endParaRPr lang="en-US" sz="3550" dirty="0"/>
          </a:p>
        </p:txBody>
      </p:sp>
      <p:sp>
        <p:nvSpPr>
          <p:cNvPr id="8" name="Text 6"/>
          <p:cNvSpPr/>
          <p:nvPr/>
        </p:nvSpPr>
        <p:spPr>
          <a:xfrm>
            <a:off x="793790" y="540174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advanced denoising techniques (e.g., Median Filtering).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934551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dynamic blur adaptation for varying image quality.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46735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Investigate Vision Transformers and EfficientNet for better accuracy.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AF4F2F-73D5-6CD9-40A3-E0BF941E6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49" y="7559905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92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References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7167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S. Choi, T. Lim, and S. Oh, "Model Compression for Deep Belief Networks by Selective Knowledge Transfer," </a:t>
            </a:r>
            <a:r>
              <a:rPr lang="en-US" sz="1750" i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IEEE Transactions on Neural Networks and Learning Systems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vol. 24, no. 10, pp. 1574–1585, 2019.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767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K. He, X. Zhang, S. Ren, and J. Sun, "Deep Residual Learning for Image Recognition," in </a:t>
            </a:r>
            <a:r>
              <a:rPr lang="en-US" sz="1750" i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Proceedings of the IEEE Conference on Computer Vision and Pattern Recognition (CVPR)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2016, pp. 770–778.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818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C. Tomasi and R. Manduchi, "Bilateral Filtering for Gray and Color Images," in </a:t>
            </a:r>
            <a:r>
              <a:rPr lang="en-US" sz="1750" i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Proceedings of the IEEE International Conference on Computer Vision (ICCV)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Bombay, India, 1998, pp. 839–846.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8697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A. Krizhevsky, I. Sutskever, and G. E. Hinton, "ImageNet Classification with Deep Convolutional Neural Networks," _NIPS_, vol. 25, pp. 1097–1105, 2012.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920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J. H. Cole et al., "Gaussian Process Regression for Age Prediction of Healthy Brains," </a:t>
            </a:r>
            <a:r>
              <a:rPr lang="en-US" sz="1750" i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NeuroImage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vol. 150, pp. 200–212, 2017.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342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G. Levi and T. Hassner, "Age and Gender Classification Using Convolutional Neural Networks," in _CVPRW_, 2015, pp. 34–42.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07647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S. Paris, P. Kornprobst, J. Tumblin, and F. Durand, "A Gentle Introduction to Bilateral Filtering and its Applications," in _SIGGRAPH_, 2009, vol. 12, pp. 1–50.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70574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73BA4D-C9BC-663F-D62E-3FE64E30E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49" y="7648494"/>
            <a:ext cx="2876951" cy="581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1061</Words>
  <Application>Microsoft Office PowerPoint</Application>
  <PresentationFormat>Custom</PresentationFormat>
  <Paragraphs>132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Lato Bold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 Teja</cp:lastModifiedBy>
  <cp:revision>2</cp:revision>
  <dcterms:created xsi:type="dcterms:W3CDTF">2024-11-12T09:41:44Z</dcterms:created>
  <dcterms:modified xsi:type="dcterms:W3CDTF">2024-11-12T10:06:40Z</dcterms:modified>
</cp:coreProperties>
</file>